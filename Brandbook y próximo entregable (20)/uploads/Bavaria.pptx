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6" r:id="rId6"/>
    <p:sldId id="265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A36C8-5B44-A82A-B62F-D7E24DB56A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D6CEEC-3297-2C0A-E822-734DB96D3B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2C6A30-5785-E1A4-8E00-552A44042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126CF-F0FA-4192-B898-D681929D7669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C991FA-ABE2-CE7E-C9CB-1319A2B37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8EB8CA-0128-50ED-3AF5-F64470DA1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730C8-7F24-42E2-9A4A-2D62A77642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9946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0859E-EC87-49E1-5C5E-9FC59D1B2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587482-5E40-36C8-15D9-555E03A20E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C1BD3D-58BD-2A8B-D72C-4DA2561E5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126CF-F0FA-4192-B898-D681929D7669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59398A-C646-CBB9-AC0C-6D0CEE536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4E079E-0588-CD2A-D0B6-16E66A4CB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730C8-7F24-42E2-9A4A-2D62A77642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3918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0B305-D306-3BB0-0408-10203F4D0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D78132-F52E-3426-539D-A5D47A5574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A5763E-164A-4718-408D-F2AFD733A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126CF-F0FA-4192-B898-D681929D7669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C73F88-32D2-912B-502F-2A94BABDE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BB626B-8E67-10B2-73B0-F5A87BE9E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730C8-7F24-42E2-9A4A-2D62A77642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1276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9710D-33B4-C3B1-A858-3C6FD51B0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C31DE5-8279-D9F3-EBBF-B2D3F626CA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AFADEF-4DAE-E3D1-FD55-B5B29C2291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99DCE3-EF41-9FE5-2A4D-98915A463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126CF-F0FA-4192-B898-D681929D7669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DD336E-625B-C0C8-3AFD-FA55FB963E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8CDB3A-619D-B12A-2A6A-049CC576E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730C8-7F24-42E2-9A4A-2D62A77642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8262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42154-5ECE-BF2C-C65A-5C40AC4C3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E3D137-96EC-979C-9E83-33041F4AF9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9D9ADD-309D-2063-946D-4CBB56A255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780BE9-DA92-779D-5CED-59E5ECE859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996F99-E185-E6E1-95B3-BE539391EF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2ED052-F33B-4A95-7CD5-C27FB4251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126CF-F0FA-4192-B898-D681929D7669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0AB8C67-2F7E-B0DD-989B-229F7A74D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DDA8C6-6686-2C36-8FCA-CF8582256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730C8-7F24-42E2-9A4A-2D62A77642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7976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20054-B01F-8778-0FB0-3E3EED28F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EB3BFB-E9DB-B8C1-1D27-30147D3E4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126CF-F0FA-4192-B898-D681929D7669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812A85-70A2-559C-0600-D5654C624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155B5C-7DEC-BFC8-A073-0F36C4C3D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730C8-7F24-42E2-9A4A-2D62A77642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8536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2A55CE-CC3B-BDB8-72D7-AD5D938BF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126CF-F0FA-4192-B898-D681929D7669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B8D4AB-23D8-8418-4EDA-E36913D69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4C90F2-1FD5-CDD7-3F33-290FA7563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730C8-7F24-42E2-9A4A-2D62A77642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452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0AE1E-D5E3-5624-EE3A-4DFD52E10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9A58E8-287E-CC1F-3D22-1EC0D98057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2A3976-38EB-98D1-199D-6B93737F6B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BC925C-5AED-0FCB-104F-6138E0634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126CF-F0FA-4192-B898-D681929D7669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87647E-102A-5F1E-515C-CCCE0D077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76C3B7-2318-3253-0689-C421D64DF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730C8-7F24-42E2-9A4A-2D62A77642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178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E8AE2-A6CF-4D62-D503-105B22FCC0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89DD400-7A86-8628-7C0E-C837D50B32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5F90ED-D563-A67B-470F-DAEE252700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FA2EDA-E0AC-3367-8D15-BF5D8C38B1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126CF-F0FA-4192-B898-D681929D7669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528EDE-602F-9A78-F5A2-D88BED5FF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68AC9E-830D-5FAE-A4B3-D15162C69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730C8-7F24-42E2-9A4A-2D62A77642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589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5FD62-BC4C-B75E-20E8-B7443A285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7F2DF4-940A-97DE-257C-20218FC8AD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7D513E-F27B-BF81-20D4-482D2DE23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126CF-F0FA-4192-B898-D681929D7669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7E6E2B-BAEB-8FC1-C6C3-95481EBC1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F09B11-E3A7-3DFA-FB08-5B1EC6457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730C8-7F24-42E2-9A4A-2D62A77642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3209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D1ECAD6-5DFE-FBFE-AEBE-45B276678F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01182C-CD13-A100-2885-91BB53C745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F65194-9CB8-064E-A7AC-F6408B45A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126CF-F0FA-4192-B898-D681929D7669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4EBF2B-5F8E-1DD5-18C2-913ED4A43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6B3272-624E-44CE-06A6-ABB09B79C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730C8-7F24-42E2-9A4A-2D62A77642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4121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58C0A0-21DA-9062-BB6A-AC73E2DF6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27B1FE-9D24-0B3A-3B6D-98819122A1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2AA5B7-0F89-0F3E-B769-9154CC7808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0126CF-F0FA-4192-B898-D681929D7669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5BD527-1D93-EBA3-7C4E-0C3E744F38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8A343C-BAFC-8CE2-0B84-AC19F227F6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7730C8-7F24-42E2-9A4A-2D62A77642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588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BC1F6-42F7-89AD-606E-EC271413798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Bavaria</a:t>
            </a:r>
          </a:p>
        </p:txBody>
      </p:sp>
    </p:spTree>
    <p:extLst>
      <p:ext uri="{BB962C8B-B14F-4D97-AF65-F5344CB8AC3E}">
        <p14:creationId xmlns:p14="http://schemas.microsoft.com/office/powerpoint/2010/main" val="38555519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76A78-A5B6-7989-1ED4-922F0ED0D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736" y="2317560"/>
            <a:ext cx="2773680" cy="1325563"/>
          </a:xfrm>
        </p:spPr>
        <p:txBody>
          <a:bodyPr/>
          <a:lstStyle/>
          <a:p>
            <a:r>
              <a:rPr lang="en-US" dirty="0"/>
              <a:t>The Loop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B417CE-D1E4-637D-8EA0-B424E5FAE1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224527"/>
            <a:ext cx="2307336" cy="1952435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s-ES" dirty="0"/>
              <a:t>Una propuesta </a:t>
            </a:r>
            <a:r>
              <a:rPr lang="es-ES" dirty="0" err="1"/>
              <a:t>omnicanal</a:t>
            </a:r>
            <a:r>
              <a:rPr lang="es-ES" dirty="0"/>
              <a:t>, que busca extender el posicionamiento de Bavaria al ecosistema digital, amplificando su alcance y construyendo una experiencia de marca relevante y consistente.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35206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066E6C-B6D6-AFE3-3238-93BD793166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AE632-5116-1B39-3E86-34C2A6352A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859852"/>
            <a:ext cx="5334000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Bavaria: Una </a:t>
            </a:r>
            <a:r>
              <a:rPr lang="en-US" dirty="0" err="1"/>
              <a:t>marca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trasciende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categoría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9C4CAE-9083-6C1F-C09C-108E0C70B0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5860" y="2185415"/>
            <a:ext cx="9860280" cy="1952435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 err="1"/>
              <a:t>Diagnostico</a:t>
            </a:r>
            <a:endParaRPr lang="en-US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latin typeface="+mj-lt"/>
              </a:rPr>
              <a:t>Bavaria se ha </a:t>
            </a:r>
            <a:r>
              <a:rPr lang="en-US" sz="2000" dirty="0" err="1">
                <a:latin typeface="+mj-lt"/>
              </a:rPr>
              <a:t>consolidado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como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una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marca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profundamente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vinculada</a:t>
            </a:r>
            <a:r>
              <a:rPr lang="en-US" sz="2000" dirty="0">
                <a:latin typeface="+mj-lt"/>
              </a:rPr>
              <a:t> a la </a:t>
            </a:r>
            <a:r>
              <a:rPr lang="en-US" sz="2000" dirty="0" err="1">
                <a:latin typeface="+mj-lt"/>
              </a:rPr>
              <a:t>cultura</a:t>
            </a:r>
            <a:r>
              <a:rPr lang="en-US" sz="2000" dirty="0">
                <a:latin typeface="+mj-lt"/>
              </a:rPr>
              <a:t> y a </a:t>
            </a:r>
            <a:r>
              <a:rPr lang="en-US" sz="2000" dirty="0" err="1">
                <a:latin typeface="+mj-lt"/>
              </a:rPr>
              <a:t>los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momentos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que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hacen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parte</a:t>
            </a:r>
            <a:r>
              <a:rPr lang="en-US" sz="2000" dirty="0">
                <a:latin typeface="+mj-lt"/>
              </a:rPr>
              <a:t> de la </a:t>
            </a:r>
            <a:r>
              <a:rPr lang="en-US" sz="2000" dirty="0" err="1">
                <a:latin typeface="+mj-lt"/>
              </a:rPr>
              <a:t>vida</a:t>
            </a:r>
            <a:r>
              <a:rPr lang="en-US" sz="2000" dirty="0">
                <a:latin typeface="+mj-lt"/>
              </a:rPr>
              <a:t> social de </a:t>
            </a:r>
            <a:r>
              <a:rPr lang="en-US" sz="2000" dirty="0" err="1">
                <a:latin typeface="+mj-lt"/>
              </a:rPr>
              <a:t>los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colombianos</a:t>
            </a:r>
            <a:r>
              <a:rPr lang="en-US" sz="2000" dirty="0">
                <a:latin typeface="+mj-lt"/>
              </a:rPr>
              <a:t>. Su </a:t>
            </a:r>
            <a:r>
              <a:rPr lang="en-US" sz="2000" dirty="0" err="1">
                <a:latin typeface="+mj-lt"/>
              </a:rPr>
              <a:t>amplia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trayectoria</a:t>
            </a:r>
            <a:r>
              <a:rPr lang="en-US" sz="2000" dirty="0">
                <a:latin typeface="+mj-lt"/>
              </a:rPr>
              <a:t>, el </a:t>
            </a:r>
            <a:r>
              <a:rPr lang="en-US" sz="2000" dirty="0" err="1">
                <a:latin typeface="+mj-lt"/>
              </a:rPr>
              <a:t>reconocimiento</a:t>
            </a:r>
            <a:r>
              <a:rPr lang="en-US" sz="2000" dirty="0">
                <a:latin typeface="+mj-lt"/>
              </a:rPr>
              <a:t> de </a:t>
            </a:r>
            <a:r>
              <a:rPr lang="en-US" sz="2000" dirty="0" err="1">
                <a:latin typeface="+mj-lt"/>
              </a:rPr>
              <a:t>su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portafolio</a:t>
            </a:r>
            <a:r>
              <a:rPr lang="en-US" sz="2000" dirty="0">
                <a:latin typeface="+mj-lt"/>
              </a:rPr>
              <a:t> y </a:t>
            </a:r>
            <a:r>
              <a:rPr lang="en-US" sz="2000" dirty="0" err="1">
                <a:latin typeface="+mj-lt"/>
              </a:rPr>
              <a:t>su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presencia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constante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en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espacios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deportivos</a:t>
            </a:r>
            <a:r>
              <a:rPr lang="en-US" sz="2000" dirty="0">
                <a:latin typeface="+mj-lt"/>
              </a:rPr>
              <a:t>, musicales y de </a:t>
            </a:r>
            <a:r>
              <a:rPr lang="en-US" sz="2000" dirty="0" err="1">
                <a:latin typeface="+mj-lt"/>
              </a:rPr>
              <a:t>entretenimiento</a:t>
            </a:r>
            <a:r>
              <a:rPr lang="en-US" sz="2000" dirty="0">
                <a:latin typeface="+mj-lt"/>
              </a:rPr>
              <a:t>, le </a:t>
            </a:r>
            <a:r>
              <a:rPr lang="en-US" sz="2000" dirty="0" err="1">
                <a:latin typeface="+mj-lt"/>
              </a:rPr>
              <a:t>han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permitido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construir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una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conexión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emocional</a:t>
            </a:r>
            <a:r>
              <a:rPr lang="en-US" sz="2000" dirty="0">
                <a:latin typeface="+mj-lt"/>
              </a:rPr>
              <a:t> con sus audiencias </a:t>
            </a:r>
            <a:r>
              <a:rPr lang="en-US" sz="2000" dirty="0" err="1">
                <a:latin typeface="+mj-lt"/>
              </a:rPr>
              <a:t>que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trasciende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más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allá</a:t>
            </a:r>
            <a:r>
              <a:rPr lang="en-US" sz="2000" dirty="0">
                <a:latin typeface="+mj-lt"/>
              </a:rPr>
              <a:t> del </a:t>
            </a:r>
            <a:r>
              <a:rPr lang="en-US" sz="2000" dirty="0" err="1">
                <a:latin typeface="+mj-lt"/>
              </a:rPr>
              <a:t>producto</a:t>
            </a:r>
            <a:r>
              <a:rPr lang="en-US" sz="2000" dirty="0">
                <a:latin typeface="+mj-lt"/>
              </a:rPr>
              <a:t>. A </a:t>
            </a:r>
            <a:r>
              <a:rPr lang="en-US" sz="2000" dirty="0" err="1">
                <a:latin typeface="+mj-lt"/>
              </a:rPr>
              <a:t>través</a:t>
            </a:r>
            <a:r>
              <a:rPr lang="en-US" sz="2000" dirty="0">
                <a:latin typeface="+mj-lt"/>
              </a:rPr>
              <a:t> de un </a:t>
            </a:r>
            <a:r>
              <a:rPr lang="en-US" sz="2000" dirty="0" err="1">
                <a:latin typeface="+mj-lt"/>
              </a:rPr>
              <a:t>portafolio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diverso</a:t>
            </a:r>
            <a:r>
              <a:rPr lang="en-US" sz="2000" dirty="0">
                <a:latin typeface="+mj-lt"/>
              </a:rPr>
              <a:t>, Bavaria ha </a:t>
            </a:r>
            <a:r>
              <a:rPr lang="en-US" sz="2000" dirty="0" err="1">
                <a:latin typeface="+mj-lt"/>
              </a:rPr>
              <a:t>construido</a:t>
            </a:r>
            <a:r>
              <a:rPr lang="en-US" sz="2000" dirty="0">
                <a:latin typeface="+mj-lt"/>
              </a:rPr>
              <a:t> un </a:t>
            </a:r>
            <a:r>
              <a:rPr lang="en-US" sz="2000" dirty="0" err="1">
                <a:latin typeface="+mj-lt"/>
              </a:rPr>
              <a:t>posicionamiento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sólido</a:t>
            </a:r>
            <a:r>
              <a:rPr lang="en-US" sz="2000" dirty="0">
                <a:latin typeface="+mj-lt"/>
              </a:rPr>
              <a:t> y </a:t>
            </a:r>
            <a:r>
              <a:rPr lang="en-US" sz="2000" dirty="0" err="1">
                <a:latin typeface="+mj-lt"/>
              </a:rPr>
              <a:t>versátil</a:t>
            </a:r>
            <a:r>
              <a:rPr lang="en-US" sz="2000" dirty="0">
                <a:latin typeface="+mj-lt"/>
              </a:rPr>
              <a:t>, </a:t>
            </a:r>
            <a:r>
              <a:rPr lang="en-US" sz="2000" dirty="0" err="1">
                <a:latin typeface="+mj-lt"/>
              </a:rPr>
              <a:t>capaz</a:t>
            </a:r>
            <a:r>
              <a:rPr lang="en-US" sz="2000" dirty="0">
                <a:latin typeface="+mj-lt"/>
              </a:rPr>
              <a:t> de </a:t>
            </a:r>
            <a:r>
              <a:rPr lang="en-US" sz="2000" dirty="0" err="1">
                <a:latin typeface="+mj-lt"/>
              </a:rPr>
              <a:t>conectar</a:t>
            </a:r>
            <a:r>
              <a:rPr lang="en-US" sz="2000" dirty="0">
                <a:latin typeface="+mj-lt"/>
              </a:rPr>
              <a:t> con </a:t>
            </a:r>
            <a:r>
              <a:rPr lang="en-US" sz="2000" dirty="0" err="1">
                <a:latin typeface="+mj-lt"/>
              </a:rPr>
              <a:t>diferentes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perfiles</a:t>
            </a:r>
            <a:r>
              <a:rPr lang="en-US" sz="2000" dirty="0">
                <a:latin typeface="+mj-lt"/>
              </a:rPr>
              <a:t> de </a:t>
            </a:r>
            <a:r>
              <a:rPr lang="en-US" sz="2000" dirty="0" err="1">
                <a:latin typeface="+mj-lt"/>
              </a:rPr>
              <a:t>consumidores</a:t>
            </a:r>
            <a:r>
              <a:rPr lang="en-US" sz="2000" dirty="0">
                <a:latin typeface="+mj-lt"/>
              </a:rPr>
              <a:t>, </a:t>
            </a:r>
            <a:r>
              <a:rPr lang="en-US" sz="2000" dirty="0" err="1">
                <a:latin typeface="+mj-lt"/>
              </a:rPr>
              <a:t>ocasiones</a:t>
            </a:r>
            <a:r>
              <a:rPr lang="en-US" sz="2000" dirty="0">
                <a:latin typeface="+mj-lt"/>
              </a:rPr>
              <a:t> y </a:t>
            </a:r>
            <a:r>
              <a:rPr lang="en-US" sz="2000" dirty="0" err="1">
                <a:latin typeface="+mj-lt"/>
              </a:rPr>
              <a:t>momentos</a:t>
            </a:r>
            <a:r>
              <a:rPr lang="en-US" sz="2000" dirty="0">
                <a:latin typeface="+mj-lt"/>
              </a:rPr>
              <a:t> de </a:t>
            </a:r>
            <a:r>
              <a:rPr lang="en-US" sz="2000" dirty="0" err="1">
                <a:latin typeface="+mj-lt"/>
              </a:rPr>
              <a:t>consumo</a:t>
            </a:r>
            <a:r>
              <a:rPr lang="en-US" sz="2000" dirty="0">
                <a:latin typeface="+mj-lt"/>
              </a:rPr>
              <a:t>, </a:t>
            </a:r>
            <a:r>
              <a:rPr lang="en-US" sz="2000" dirty="0" err="1">
                <a:latin typeface="+mj-lt"/>
              </a:rPr>
              <a:t>manteniendo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su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relevancia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en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múltiples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nichos</a:t>
            </a:r>
            <a:r>
              <a:rPr lang="en-US" sz="2000" dirty="0">
                <a:latin typeface="+mj-lt"/>
              </a:rPr>
              <a:t> de mercado y </a:t>
            </a:r>
            <a:r>
              <a:rPr lang="en-US" sz="2000" dirty="0" err="1">
                <a:latin typeface="+mj-lt"/>
              </a:rPr>
              <a:t>consolidándose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como</a:t>
            </a:r>
            <a:r>
              <a:rPr lang="en-US" sz="2000" dirty="0">
                <a:latin typeface="+mj-lt"/>
              </a:rPr>
              <a:t> un </a:t>
            </a:r>
            <a:r>
              <a:rPr lang="en-US" sz="2000" dirty="0" err="1">
                <a:latin typeface="+mj-lt"/>
              </a:rPr>
              <a:t>referente</a:t>
            </a:r>
            <a:r>
              <a:rPr lang="en-US" sz="2000" dirty="0">
                <a:latin typeface="+mj-lt"/>
              </a:rPr>
              <a:t> de la </a:t>
            </a:r>
            <a:r>
              <a:rPr lang="en-US" sz="2000" dirty="0" err="1">
                <a:latin typeface="+mj-lt"/>
              </a:rPr>
              <a:t>industria</a:t>
            </a:r>
            <a:r>
              <a:rPr lang="en-US" sz="2000" dirty="0">
                <a:latin typeface="+mj-lt"/>
              </a:rPr>
              <a:t>. Esta </a:t>
            </a:r>
            <a:r>
              <a:rPr lang="en-US" sz="2000" dirty="0" err="1">
                <a:latin typeface="+mj-lt"/>
              </a:rPr>
              <a:t>combinación</a:t>
            </a:r>
            <a:r>
              <a:rPr lang="en-US" sz="2000" dirty="0">
                <a:latin typeface="+mj-lt"/>
              </a:rPr>
              <a:t> de </a:t>
            </a:r>
            <a:r>
              <a:rPr lang="en-US" sz="2000" dirty="0" err="1">
                <a:latin typeface="+mj-lt"/>
              </a:rPr>
              <a:t>reconocimiento</a:t>
            </a:r>
            <a:r>
              <a:rPr lang="en-US" sz="2000" dirty="0">
                <a:latin typeface="+mj-lt"/>
              </a:rPr>
              <a:t>, </a:t>
            </a:r>
            <a:r>
              <a:rPr lang="en-US" sz="2000" dirty="0" err="1">
                <a:latin typeface="+mj-lt"/>
              </a:rPr>
              <a:t>liderazgo</a:t>
            </a:r>
            <a:r>
              <a:rPr lang="en-US" sz="2000" dirty="0">
                <a:latin typeface="+mj-lt"/>
              </a:rPr>
              <a:t>, </a:t>
            </a:r>
            <a:r>
              <a:rPr lang="en-US" sz="2000" dirty="0" err="1">
                <a:latin typeface="+mj-lt"/>
              </a:rPr>
              <a:t>diversidad</a:t>
            </a:r>
            <a:r>
              <a:rPr lang="en-US" sz="2000" dirty="0">
                <a:latin typeface="+mj-lt"/>
              </a:rPr>
              <a:t> y </a:t>
            </a:r>
            <a:r>
              <a:rPr lang="en-US" sz="2000" dirty="0" err="1">
                <a:latin typeface="+mj-lt"/>
              </a:rPr>
              <a:t>relevancia</a:t>
            </a:r>
            <a:r>
              <a:rPr lang="en-US" sz="2000" dirty="0">
                <a:latin typeface="+mj-lt"/>
              </a:rPr>
              <a:t> cultural </a:t>
            </a:r>
            <a:r>
              <a:rPr lang="en-US" sz="2000" dirty="0" err="1">
                <a:latin typeface="+mj-lt"/>
              </a:rPr>
              <a:t>constituye</a:t>
            </a:r>
            <a:r>
              <a:rPr lang="en-US" sz="2000" dirty="0">
                <a:latin typeface="+mj-lt"/>
              </a:rPr>
              <a:t> un </a:t>
            </a:r>
            <a:r>
              <a:rPr lang="en-US" sz="2000" dirty="0" err="1">
                <a:latin typeface="+mj-lt"/>
              </a:rPr>
              <a:t>sólido</a:t>
            </a:r>
            <a:r>
              <a:rPr lang="en-US" sz="2000" dirty="0">
                <a:latin typeface="+mj-lt"/>
              </a:rPr>
              <a:t> capital de </a:t>
            </a:r>
            <a:r>
              <a:rPr lang="en-US" sz="2000" dirty="0" err="1">
                <a:latin typeface="+mj-lt"/>
              </a:rPr>
              <a:t>marca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sobre</a:t>
            </a:r>
            <a:r>
              <a:rPr lang="en-US" sz="2000" dirty="0">
                <a:latin typeface="+mj-lt"/>
              </a:rPr>
              <a:t> el </a:t>
            </a:r>
            <a:r>
              <a:rPr lang="en-US" sz="2000" dirty="0" err="1">
                <a:latin typeface="+mj-lt"/>
              </a:rPr>
              <a:t>cual</a:t>
            </a:r>
            <a:r>
              <a:rPr lang="en-US" sz="2000" dirty="0">
                <a:latin typeface="+mj-lt"/>
              </a:rPr>
              <a:t> Bavaria </a:t>
            </a:r>
            <a:r>
              <a:rPr lang="en-US" sz="2000" dirty="0" err="1">
                <a:latin typeface="+mj-lt"/>
              </a:rPr>
              <a:t>puede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seguir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construyendo</a:t>
            </a:r>
            <a:r>
              <a:rPr lang="en-US" sz="2000" dirty="0">
                <a:latin typeface="+mj-lt"/>
              </a:rPr>
              <a:t> bajo </a:t>
            </a:r>
            <a:r>
              <a:rPr lang="en-US" sz="2000" dirty="0" err="1">
                <a:latin typeface="+mj-lt"/>
              </a:rPr>
              <a:t>una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estrategia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omnicanal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que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extienda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su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presencia</a:t>
            </a:r>
            <a:r>
              <a:rPr lang="en-US" sz="2000" dirty="0">
                <a:latin typeface="+mj-lt"/>
              </a:rPr>
              <a:t> al </a:t>
            </a:r>
            <a:r>
              <a:rPr lang="en-US" sz="2000" dirty="0" err="1">
                <a:latin typeface="+mj-lt"/>
              </a:rPr>
              <a:t>ecosistema</a:t>
            </a:r>
            <a:r>
              <a:rPr lang="en-US" sz="2000" dirty="0">
                <a:latin typeface="+mj-lt"/>
              </a:rPr>
              <a:t> digital y </a:t>
            </a:r>
            <a:r>
              <a:rPr lang="en-US" sz="2000" dirty="0" err="1">
                <a:latin typeface="+mj-lt"/>
              </a:rPr>
              <a:t>amplifique</a:t>
            </a:r>
            <a:r>
              <a:rPr lang="en-US" sz="2000" dirty="0">
                <a:latin typeface="+mj-lt"/>
              </a:rPr>
              <a:t> el </a:t>
            </a:r>
            <a:r>
              <a:rPr lang="en-US" sz="2000" dirty="0" err="1">
                <a:latin typeface="+mj-lt"/>
              </a:rPr>
              <a:t>impacto</a:t>
            </a:r>
            <a:r>
              <a:rPr lang="en-US" sz="2000" dirty="0">
                <a:latin typeface="+mj-lt"/>
              </a:rPr>
              <a:t> de </a:t>
            </a:r>
            <a:r>
              <a:rPr lang="en-US" sz="2000" dirty="0" err="1">
                <a:latin typeface="+mj-lt"/>
              </a:rPr>
              <a:t>cada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interacción</a:t>
            </a:r>
            <a:r>
              <a:rPr lang="en-US" sz="2000" dirty="0">
                <a:latin typeface="+mj-lt"/>
              </a:rPr>
              <a:t> con sus audiencias.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0B014E0-B766-C7AF-E6C8-B517C90FFC78}"/>
              </a:ext>
            </a:extLst>
          </p:cNvPr>
          <p:cNvSpPr txBox="1">
            <a:spLocks/>
          </p:cNvSpPr>
          <p:nvPr/>
        </p:nvSpPr>
        <p:spPr>
          <a:xfrm>
            <a:off x="167640" y="287369"/>
            <a:ext cx="2307336" cy="3936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ES" sz="1600" dirty="0" err="1"/>
              <a:t>Diagnositico</a:t>
            </a:r>
            <a:r>
              <a:rPr lang="es-ES" sz="1600" dirty="0"/>
              <a:t> de Marca</a:t>
            </a:r>
            <a:endParaRPr lang="en-US" sz="160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9D72A01-6251-F46E-9081-389240B258F6}"/>
              </a:ext>
            </a:extLst>
          </p:cNvPr>
          <p:cNvSpPr txBox="1">
            <a:spLocks/>
          </p:cNvSpPr>
          <p:nvPr/>
        </p:nvSpPr>
        <p:spPr>
          <a:xfrm>
            <a:off x="6871716" y="4137625"/>
            <a:ext cx="4695444" cy="1952435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 err="1"/>
              <a:t>Objetivo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 err="1"/>
              <a:t>Integrar</a:t>
            </a:r>
            <a:r>
              <a:rPr lang="en-US" dirty="0"/>
              <a:t> las </a:t>
            </a:r>
            <a:r>
              <a:rPr lang="en-US" dirty="0" err="1"/>
              <a:t>activaciones</a:t>
            </a:r>
            <a:r>
              <a:rPr lang="en-US" dirty="0"/>
              <a:t> offline </a:t>
            </a:r>
            <a:r>
              <a:rPr lang="en-US" dirty="0" err="1"/>
              <a:t>actuales</a:t>
            </a:r>
            <a:r>
              <a:rPr lang="en-US" dirty="0"/>
              <a:t> de Bavaria </a:t>
            </a:r>
            <a:r>
              <a:rPr lang="en-US" dirty="0" err="1"/>
              <a:t>digitalmente</a:t>
            </a:r>
            <a:r>
              <a:rPr lang="en-US" dirty="0"/>
              <a:t>, </a:t>
            </a:r>
            <a:r>
              <a:rPr lang="en-US" dirty="0" err="1"/>
              <a:t>conectando</a:t>
            </a:r>
            <a:r>
              <a:rPr lang="en-US" dirty="0"/>
              <a:t> </a:t>
            </a:r>
            <a:r>
              <a:rPr lang="en-US" dirty="0" err="1"/>
              <a:t>cada</a:t>
            </a:r>
            <a:r>
              <a:rPr lang="en-US" dirty="0"/>
              <a:t> </a:t>
            </a:r>
            <a:r>
              <a:rPr lang="en-US" dirty="0" err="1"/>
              <a:t>iniciativa</a:t>
            </a:r>
            <a:r>
              <a:rPr lang="en-US" dirty="0"/>
              <a:t> con audiencias, </a:t>
            </a:r>
            <a:r>
              <a:rPr lang="en-US" dirty="0" err="1"/>
              <a:t>plataformas</a:t>
            </a:r>
            <a:r>
              <a:rPr lang="en-US" dirty="0"/>
              <a:t> y </a:t>
            </a:r>
            <a:r>
              <a:rPr lang="en-US" dirty="0" err="1"/>
              <a:t>formatos</a:t>
            </a:r>
            <a:r>
              <a:rPr lang="en-US" dirty="0"/>
              <a:t> </a:t>
            </a:r>
            <a:r>
              <a:rPr lang="en-US" dirty="0" err="1"/>
              <a:t>estratégicos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permitan</a:t>
            </a:r>
            <a:r>
              <a:rPr lang="en-US" dirty="0"/>
              <a:t> </a:t>
            </a:r>
            <a:r>
              <a:rPr lang="en-US" dirty="0" err="1"/>
              <a:t>amplificar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alcance</a:t>
            </a:r>
            <a:r>
              <a:rPr lang="en-US" dirty="0"/>
              <a:t> y </a:t>
            </a:r>
            <a:r>
              <a:rPr lang="en-US" dirty="0" err="1"/>
              <a:t>generar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experiencia</a:t>
            </a:r>
            <a:r>
              <a:rPr lang="en-US" dirty="0"/>
              <a:t> de </a:t>
            </a:r>
            <a:r>
              <a:rPr lang="en-US" dirty="0" err="1"/>
              <a:t>marca</a:t>
            </a:r>
            <a:r>
              <a:rPr lang="en-US" dirty="0"/>
              <a:t> </a:t>
            </a:r>
            <a:r>
              <a:rPr lang="en-US" dirty="0" err="1"/>
              <a:t>omnicanal</a:t>
            </a:r>
            <a:r>
              <a:rPr lang="en-US" dirty="0"/>
              <a:t> </a:t>
            </a:r>
            <a:r>
              <a:rPr lang="en-US" dirty="0" err="1"/>
              <a:t>extendida</a:t>
            </a:r>
            <a:r>
              <a:rPr lang="en-US" dirty="0"/>
              <a:t>, </a:t>
            </a:r>
            <a:r>
              <a:rPr lang="en-US" dirty="0" err="1"/>
              <a:t>coherente</a:t>
            </a:r>
            <a:r>
              <a:rPr lang="en-US" dirty="0"/>
              <a:t> y </a:t>
            </a:r>
            <a:r>
              <a:rPr lang="en-US" dirty="0" err="1"/>
              <a:t>relevante</a:t>
            </a:r>
            <a:r>
              <a:rPr lang="en-US" dirty="0"/>
              <a:t> para sus audiencias.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ACDD75E-E385-6821-2D11-D18BB829E352}"/>
              </a:ext>
            </a:extLst>
          </p:cNvPr>
          <p:cNvSpPr txBox="1">
            <a:spLocks/>
          </p:cNvSpPr>
          <p:nvPr/>
        </p:nvSpPr>
        <p:spPr>
          <a:xfrm>
            <a:off x="1165860" y="4137625"/>
            <a:ext cx="4695444" cy="1952435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dirty="0" err="1"/>
              <a:t>Oportunidad</a:t>
            </a:r>
            <a:r>
              <a:rPr lang="en-US" dirty="0"/>
              <a:t>:</a:t>
            </a:r>
          </a:p>
          <a:p>
            <a:r>
              <a:rPr lang="en-US" sz="2400" dirty="0" err="1"/>
              <a:t>Capitalizar</a:t>
            </a:r>
            <a:r>
              <a:rPr lang="en-US" sz="2400" dirty="0"/>
              <a:t> el valor de las </a:t>
            </a:r>
            <a:r>
              <a:rPr lang="en-US" sz="2400" dirty="0" err="1"/>
              <a:t>experiencias</a:t>
            </a:r>
            <a:r>
              <a:rPr lang="en-US" sz="2400" dirty="0"/>
              <a:t> </a:t>
            </a:r>
            <a:r>
              <a:rPr lang="en-US" sz="2400" dirty="0" err="1"/>
              <a:t>que</a:t>
            </a:r>
            <a:r>
              <a:rPr lang="en-US" sz="2400" dirty="0"/>
              <a:t> Bavaria </a:t>
            </a:r>
            <a:r>
              <a:rPr lang="en-US" sz="2400" dirty="0" err="1"/>
              <a:t>ya</a:t>
            </a:r>
            <a:r>
              <a:rPr lang="en-US" sz="2400" dirty="0"/>
              <a:t> </a:t>
            </a:r>
            <a:r>
              <a:rPr lang="en-US" sz="2400" dirty="0" err="1"/>
              <a:t>construye</a:t>
            </a:r>
            <a:r>
              <a:rPr lang="en-US" sz="2400" dirty="0"/>
              <a:t> de </a:t>
            </a:r>
            <a:r>
              <a:rPr lang="en-US" sz="2400" dirty="0" err="1"/>
              <a:t>manera</a:t>
            </a:r>
            <a:r>
              <a:rPr lang="en-US" sz="2400" dirty="0"/>
              <a:t> offline, </a:t>
            </a:r>
            <a:r>
              <a:rPr lang="en-US" sz="2400" dirty="0" err="1"/>
              <a:t>extendiendo</a:t>
            </a:r>
            <a:r>
              <a:rPr lang="en-US" sz="2400" dirty="0"/>
              <a:t> </a:t>
            </a:r>
            <a:r>
              <a:rPr lang="en-US" sz="2400" dirty="0" err="1"/>
              <a:t>su</a:t>
            </a:r>
            <a:r>
              <a:rPr lang="en-US" sz="2400" dirty="0"/>
              <a:t> </a:t>
            </a:r>
            <a:r>
              <a:rPr lang="en-US" sz="2400" dirty="0" err="1"/>
              <a:t>alcance</a:t>
            </a:r>
            <a:r>
              <a:rPr lang="en-US" sz="2400" dirty="0"/>
              <a:t> al </a:t>
            </a:r>
            <a:r>
              <a:rPr lang="en-US" sz="2400" dirty="0" err="1"/>
              <a:t>ecosistema</a:t>
            </a:r>
            <a:r>
              <a:rPr lang="en-US" sz="2400" dirty="0"/>
              <a:t> digital para </a:t>
            </a:r>
            <a:r>
              <a:rPr lang="en-US" sz="2400" dirty="0" err="1"/>
              <a:t>construir</a:t>
            </a:r>
            <a:r>
              <a:rPr lang="en-US" sz="2400" dirty="0"/>
              <a:t> </a:t>
            </a:r>
            <a:r>
              <a:rPr lang="en-US" sz="2400" dirty="0" err="1"/>
              <a:t>una</a:t>
            </a:r>
            <a:r>
              <a:rPr lang="en-US" sz="2400" dirty="0"/>
              <a:t> </a:t>
            </a:r>
            <a:r>
              <a:rPr lang="en-US" sz="2400" dirty="0" err="1"/>
              <a:t>experiencia</a:t>
            </a:r>
            <a:r>
              <a:rPr lang="en-US" sz="2400" dirty="0"/>
              <a:t> de </a:t>
            </a:r>
            <a:r>
              <a:rPr lang="en-US" sz="2400" dirty="0" err="1"/>
              <a:t>marca</a:t>
            </a:r>
            <a:r>
              <a:rPr lang="en-US" sz="2400" dirty="0"/>
              <a:t> </a:t>
            </a:r>
            <a:r>
              <a:rPr lang="en-US" sz="2400" dirty="0" err="1"/>
              <a:t>integrada</a:t>
            </a:r>
            <a:r>
              <a:rPr lang="en-US" sz="2400" dirty="0"/>
              <a:t>, </a:t>
            </a:r>
            <a:r>
              <a:rPr lang="en-US" sz="2400" dirty="0" err="1"/>
              <a:t>omnicanal</a:t>
            </a:r>
            <a:r>
              <a:rPr lang="en-US" sz="2400" dirty="0"/>
              <a:t> y de alto </a:t>
            </a:r>
            <a:r>
              <a:rPr lang="en-US" sz="2400" dirty="0" err="1"/>
              <a:t>impacto</a:t>
            </a:r>
            <a:r>
              <a:rPr lang="en-US" sz="2400" dirty="0"/>
              <a:t>.</a:t>
            </a:r>
            <a:endParaRPr lang="en-US" sz="2100" dirty="0"/>
          </a:p>
        </p:txBody>
      </p:sp>
    </p:spTree>
    <p:extLst>
      <p:ext uri="{BB962C8B-B14F-4D97-AF65-F5344CB8AC3E}">
        <p14:creationId xmlns:p14="http://schemas.microsoft.com/office/powerpoint/2010/main" val="18108961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BC64AE-902E-5459-F1E4-32E7E58FE9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EC171-B997-4517-0ABB-7841A3434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546529"/>
            <a:ext cx="5334000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Cuatro Canales: Una </a:t>
            </a:r>
            <a:r>
              <a:rPr lang="en-US" dirty="0" err="1"/>
              <a:t>experiencia</a:t>
            </a:r>
            <a:r>
              <a:rPr lang="en-US" dirty="0"/>
              <a:t> Bavaria </a:t>
            </a:r>
            <a:r>
              <a:rPr lang="en-US" dirty="0" err="1"/>
              <a:t>Conectada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293923-B7D4-DC13-0B63-B253484ACB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5860" y="2441447"/>
            <a:ext cx="9860280" cy="124358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/>
              <a:t>A </a:t>
            </a:r>
            <a:r>
              <a:rPr lang="en-US" sz="1600" dirty="0" err="1"/>
              <a:t>través</a:t>
            </a:r>
            <a:r>
              <a:rPr lang="en-US" sz="1600" dirty="0"/>
              <a:t> de un </a:t>
            </a:r>
            <a:r>
              <a:rPr lang="en-US" sz="1600" dirty="0" err="1"/>
              <a:t>ecosistema</a:t>
            </a:r>
            <a:r>
              <a:rPr lang="en-US" sz="1600" dirty="0"/>
              <a:t> integral de </a:t>
            </a:r>
            <a:r>
              <a:rPr lang="en-US" sz="1600" dirty="0" err="1"/>
              <a:t>formatos</a:t>
            </a:r>
            <a:r>
              <a:rPr lang="en-US" sz="1600" dirty="0"/>
              <a:t> </a:t>
            </a:r>
            <a:r>
              <a:rPr lang="en-US" sz="1600" dirty="0" err="1"/>
              <a:t>publicitarios</a:t>
            </a:r>
            <a:r>
              <a:rPr lang="en-US" sz="1600" dirty="0"/>
              <a:t> top-tier, </a:t>
            </a:r>
            <a:r>
              <a:rPr lang="en-US" sz="1600" dirty="0" err="1"/>
              <a:t>logramos</a:t>
            </a:r>
            <a:r>
              <a:rPr lang="en-US" sz="1600" dirty="0"/>
              <a:t> </a:t>
            </a:r>
            <a:r>
              <a:rPr lang="en-US" sz="1600" dirty="0" err="1"/>
              <a:t>que</a:t>
            </a:r>
            <a:r>
              <a:rPr lang="en-US" sz="1600" dirty="0"/>
              <a:t> las </a:t>
            </a:r>
            <a:r>
              <a:rPr lang="en-US" sz="1600" dirty="0" err="1"/>
              <a:t>marcas</a:t>
            </a:r>
            <a:r>
              <a:rPr lang="en-US" sz="1600" dirty="0"/>
              <a:t> </a:t>
            </a:r>
            <a:r>
              <a:rPr lang="en-US" sz="1600" dirty="0" err="1"/>
              <a:t>construyan</a:t>
            </a:r>
            <a:r>
              <a:rPr lang="en-US" sz="1600" dirty="0"/>
              <a:t> </a:t>
            </a:r>
            <a:r>
              <a:rPr lang="en-US" sz="1600" dirty="0" err="1"/>
              <a:t>una</a:t>
            </a:r>
            <a:r>
              <a:rPr lang="en-US" sz="1600" dirty="0"/>
              <a:t> </a:t>
            </a:r>
            <a:r>
              <a:rPr lang="en-US" sz="1600" dirty="0" err="1"/>
              <a:t>presencia</a:t>
            </a:r>
            <a:r>
              <a:rPr lang="en-US" sz="1600" dirty="0"/>
              <a:t> </a:t>
            </a:r>
            <a:r>
              <a:rPr lang="en-US" sz="1600" dirty="0" err="1"/>
              <a:t>consistente</a:t>
            </a:r>
            <a:r>
              <a:rPr lang="en-US" sz="1600" dirty="0"/>
              <a:t> y </a:t>
            </a:r>
            <a:r>
              <a:rPr lang="en-US" sz="1600" dirty="0" err="1"/>
              <a:t>relevante</a:t>
            </a:r>
            <a:r>
              <a:rPr lang="en-US" sz="1600" dirty="0"/>
              <a:t> </a:t>
            </a:r>
            <a:r>
              <a:rPr lang="en-US" sz="1600" dirty="0" err="1"/>
              <a:t>en</a:t>
            </a:r>
            <a:r>
              <a:rPr lang="en-US" sz="1600" dirty="0"/>
              <a:t> </a:t>
            </a:r>
            <a:r>
              <a:rPr lang="en-US" sz="1600" dirty="0" err="1"/>
              <a:t>todo</a:t>
            </a:r>
            <a:r>
              <a:rPr lang="en-US" sz="1600" dirty="0"/>
              <a:t> el </a:t>
            </a:r>
            <a:r>
              <a:rPr lang="en-US" sz="1600" dirty="0" err="1"/>
              <a:t>entorno</a:t>
            </a:r>
            <a:r>
              <a:rPr lang="en-US" sz="1600" dirty="0"/>
              <a:t> digital — </a:t>
            </a:r>
            <a:r>
              <a:rPr lang="en-US" sz="1600" dirty="0" err="1"/>
              <a:t>activando</a:t>
            </a:r>
            <a:r>
              <a:rPr lang="en-US" sz="1600" dirty="0"/>
              <a:t> </a:t>
            </a:r>
            <a:r>
              <a:rPr lang="en-US" sz="1600" dirty="0" err="1"/>
              <a:t>múltiples</a:t>
            </a:r>
            <a:r>
              <a:rPr lang="en-US" sz="1600" dirty="0"/>
              <a:t> puntos de </a:t>
            </a:r>
            <a:r>
              <a:rPr lang="en-US" sz="1600" dirty="0" err="1"/>
              <a:t>contacto</a:t>
            </a:r>
            <a:r>
              <a:rPr lang="en-US" sz="1600" dirty="0"/>
              <a:t> con audiencias de alto valor para </a:t>
            </a:r>
            <a:r>
              <a:rPr lang="en-US" sz="1600" dirty="0" err="1"/>
              <a:t>expandir</a:t>
            </a:r>
            <a:r>
              <a:rPr lang="en-US" sz="1600" dirty="0"/>
              <a:t> el </a:t>
            </a:r>
            <a:r>
              <a:rPr lang="en-US" sz="1600" dirty="0" err="1"/>
              <a:t>alcance</a:t>
            </a:r>
            <a:r>
              <a:rPr lang="en-US" sz="1600" dirty="0"/>
              <a:t>, </a:t>
            </a:r>
            <a:r>
              <a:rPr lang="en-US" sz="1600" dirty="0" err="1"/>
              <a:t>fortalecer</a:t>
            </a:r>
            <a:r>
              <a:rPr lang="en-US" sz="1600" dirty="0"/>
              <a:t> la </a:t>
            </a:r>
            <a:r>
              <a:rPr lang="en-US" sz="1600" dirty="0" err="1"/>
              <a:t>recordación</a:t>
            </a:r>
            <a:r>
              <a:rPr lang="en-US" sz="1600" dirty="0"/>
              <a:t> de </a:t>
            </a:r>
            <a:r>
              <a:rPr lang="en-US" sz="1600" dirty="0" err="1"/>
              <a:t>marca</a:t>
            </a:r>
            <a:r>
              <a:rPr lang="en-US" sz="1600" dirty="0"/>
              <a:t> y </a:t>
            </a:r>
            <a:r>
              <a:rPr lang="en-US" sz="1600" dirty="0" err="1"/>
              <a:t>construir</a:t>
            </a:r>
            <a:r>
              <a:rPr lang="en-US" sz="1600" dirty="0"/>
              <a:t> un </a:t>
            </a:r>
            <a:r>
              <a:rPr lang="en-US" sz="1600" dirty="0" err="1"/>
              <a:t>posicionamiento</a:t>
            </a:r>
            <a:r>
              <a:rPr lang="en-US" sz="1600" dirty="0"/>
              <a:t> </a:t>
            </a:r>
            <a:r>
              <a:rPr lang="en-US" sz="1600" dirty="0" err="1"/>
              <a:t>sólido</a:t>
            </a:r>
            <a:r>
              <a:rPr lang="en-US" sz="1600" dirty="0"/>
              <a:t> y </a:t>
            </a:r>
            <a:r>
              <a:rPr lang="en-US" sz="1600" dirty="0" err="1"/>
              <a:t>coherente</a:t>
            </a:r>
            <a:r>
              <a:rPr lang="en-US" sz="1600" dirty="0"/>
              <a:t> de </a:t>
            </a:r>
            <a:r>
              <a:rPr lang="en-US" sz="1600" dirty="0" err="1"/>
              <a:t>manera</a:t>
            </a:r>
            <a:r>
              <a:rPr lang="en-US" sz="1600" dirty="0"/>
              <a:t> </a:t>
            </a:r>
            <a:r>
              <a:rPr lang="en-US" sz="1600" dirty="0" err="1"/>
              <a:t>omnicanal</a:t>
            </a:r>
            <a:r>
              <a:rPr lang="en-US" sz="1600" dirty="0"/>
              <a:t>.</a:t>
            </a:r>
            <a:endParaRPr lang="en-US" sz="1200" dirty="0">
              <a:latin typeface="+mj-lt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8510083-11B1-3637-9D95-D72BD1CBC7F0}"/>
              </a:ext>
            </a:extLst>
          </p:cNvPr>
          <p:cNvSpPr txBox="1">
            <a:spLocks/>
          </p:cNvSpPr>
          <p:nvPr/>
        </p:nvSpPr>
        <p:spPr>
          <a:xfrm>
            <a:off x="1165860" y="4183345"/>
            <a:ext cx="4695444" cy="19524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sz="2400" dirty="0"/>
              <a:t>Dynamic Ads</a:t>
            </a:r>
          </a:p>
          <a:p>
            <a:r>
              <a:rPr lang="en-US" sz="2400" dirty="0"/>
              <a:t>Rich Media</a:t>
            </a:r>
          </a:p>
          <a:p>
            <a:r>
              <a:rPr lang="en-US" sz="2400" dirty="0"/>
              <a:t>Audio</a:t>
            </a:r>
          </a:p>
          <a:p>
            <a:r>
              <a:rPr lang="en-US" sz="2400" dirty="0"/>
              <a:t>DOOH</a:t>
            </a:r>
            <a:endParaRPr lang="en-US" sz="2100" dirty="0"/>
          </a:p>
        </p:txBody>
      </p:sp>
    </p:spTree>
    <p:extLst>
      <p:ext uri="{BB962C8B-B14F-4D97-AF65-F5344CB8AC3E}">
        <p14:creationId xmlns:p14="http://schemas.microsoft.com/office/powerpoint/2010/main" val="7352983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B66D67-6158-D06E-97EE-88EC4EBCCE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82C35-69B3-7748-680D-B7AA8316F0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546529"/>
            <a:ext cx="5334000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Dynamic Ads: </a:t>
            </a:r>
            <a:r>
              <a:rPr lang="en-US" dirty="0" err="1"/>
              <a:t>Cuenta</a:t>
            </a:r>
            <a:r>
              <a:rPr lang="en-US" dirty="0"/>
              <a:t> </a:t>
            </a:r>
            <a:r>
              <a:rPr lang="en-US" dirty="0" err="1"/>
              <a:t>Regresiva</a:t>
            </a:r>
            <a:r>
              <a:rPr lang="en-US" dirty="0"/>
              <a:t>  </a:t>
            </a:r>
            <a:r>
              <a:rPr lang="en-US" dirty="0" err="1"/>
              <a:t>Expectativa</a:t>
            </a:r>
            <a:r>
              <a:rPr lang="en-US" dirty="0"/>
              <a:t> Antes del </a:t>
            </a:r>
            <a:r>
              <a:rPr lang="en-US" dirty="0" err="1"/>
              <a:t>Evento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7C988E-0812-4781-115E-8B497FDDAA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3564" y="2084831"/>
            <a:ext cx="5334000" cy="3895345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 err="1"/>
              <a:t>Creatividad</a:t>
            </a:r>
            <a:r>
              <a:rPr lang="en-US" dirty="0"/>
              <a:t> </a:t>
            </a:r>
            <a:r>
              <a:rPr lang="en-US" dirty="0" err="1"/>
              <a:t>dinámica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se </a:t>
            </a:r>
            <a:r>
              <a:rPr lang="en-US" dirty="0" err="1"/>
              <a:t>actualiza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tiempo</a:t>
            </a:r>
            <a:r>
              <a:rPr lang="en-US" dirty="0"/>
              <a:t> real con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cuenta</a:t>
            </a:r>
            <a:r>
              <a:rPr lang="en-US" dirty="0"/>
              <a:t> </a:t>
            </a:r>
            <a:r>
              <a:rPr lang="en-US" dirty="0" err="1"/>
              <a:t>regresiva</a:t>
            </a:r>
            <a:r>
              <a:rPr lang="en-US" dirty="0"/>
              <a:t> para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eventos</a:t>
            </a:r>
            <a:r>
              <a:rPr lang="en-US" dirty="0"/>
              <a:t> de las </a:t>
            </a:r>
            <a:r>
              <a:rPr lang="en-US" dirty="0" err="1"/>
              <a:t>diferentes</a:t>
            </a:r>
            <a:r>
              <a:rPr lang="en-US" dirty="0"/>
              <a:t> </a:t>
            </a:r>
            <a:r>
              <a:rPr lang="en-US" dirty="0" err="1"/>
              <a:t>marcas</a:t>
            </a:r>
            <a:r>
              <a:rPr lang="en-US" dirty="0"/>
              <a:t>, </a:t>
            </a:r>
            <a:r>
              <a:rPr lang="en-US" dirty="0" err="1"/>
              <a:t>mostrando</a:t>
            </a:r>
            <a:r>
              <a:rPr lang="en-US" dirty="0"/>
              <a:t> días, horas, </a:t>
            </a:r>
            <a:r>
              <a:rPr lang="en-US" dirty="0" err="1"/>
              <a:t>minutos</a:t>
            </a:r>
            <a:r>
              <a:rPr lang="en-US" dirty="0"/>
              <a:t> y </a:t>
            </a:r>
            <a:r>
              <a:rPr lang="en-US" dirty="0" err="1"/>
              <a:t>segundos</a:t>
            </a:r>
            <a:r>
              <a:rPr lang="en-US" dirty="0"/>
              <a:t> </a:t>
            </a:r>
            <a:r>
              <a:rPr lang="en-US" dirty="0" err="1"/>
              <a:t>restantes</a:t>
            </a:r>
            <a:r>
              <a:rPr lang="en-US" dirty="0"/>
              <a:t>. Una </a:t>
            </a:r>
            <a:r>
              <a:rPr lang="en-US" dirty="0" err="1"/>
              <a:t>experiencia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genera </a:t>
            </a:r>
            <a:r>
              <a:rPr lang="en-US" dirty="0" err="1"/>
              <a:t>expectativa</a:t>
            </a:r>
            <a:r>
              <a:rPr lang="en-US" dirty="0"/>
              <a:t> y </a:t>
            </a:r>
            <a:r>
              <a:rPr lang="en-US" dirty="0" err="1"/>
              <a:t>urgencia</a:t>
            </a:r>
            <a:r>
              <a:rPr lang="en-US" dirty="0"/>
              <a:t>, </a:t>
            </a:r>
            <a:r>
              <a:rPr lang="en-US" dirty="0" err="1"/>
              <a:t>extendiendo</a:t>
            </a:r>
            <a:r>
              <a:rPr lang="en-US" dirty="0"/>
              <a:t> la </a:t>
            </a:r>
            <a:r>
              <a:rPr lang="en-US" dirty="0" err="1"/>
              <a:t>emoción</a:t>
            </a:r>
            <a:r>
              <a:rPr lang="en-US" dirty="0"/>
              <a:t> del </a:t>
            </a:r>
            <a:r>
              <a:rPr lang="en-US" dirty="0" err="1"/>
              <a:t>evento</a:t>
            </a:r>
            <a:r>
              <a:rPr lang="en-US" dirty="0"/>
              <a:t> a </a:t>
            </a:r>
            <a:r>
              <a:rPr lang="en-US" dirty="0" err="1"/>
              <a:t>cada</a:t>
            </a:r>
            <a:r>
              <a:rPr lang="en-US" dirty="0"/>
              <a:t> </a:t>
            </a:r>
            <a:r>
              <a:rPr lang="en-US" dirty="0" err="1"/>
              <a:t>impresión</a:t>
            </a:r>
            <a:r>
              <a:rPr lang="en-US" dirty="0"/>
              <a:t> digital.</a:t>
            </a:r>
          </a:p>
          <a:p>
            <a:pPr marL="0" indent="0">
              <a:buNone/>
            </a:pPr>
            <a:r>
              <a:rPr lang="en-US" dirty="0"/>
              <a:t>GEO: Colombia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sz="1200" dirty="0">
              <a:latin typeface="+mj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40443E-C664-D394-3E1B-DA2FF3ACA8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67" b="5333"/>
          <a:stretch>
            <a:fillRect/>
          </a:stretch>
        </p:blipFill>
        <p:spPr>
          <a:xfrm>
            <a:off x="7376731" y="237744"/>
            <a:ext cx="3857625" cy="6254496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2C9295A-90D7-F8D0-BE5A-AF4934A85845}"/>
              </a:ext>
            </a:extLst>
          </p:cNvPr>
          <p:cNvSpPr txBox="1">
            <a:spLocks/>
          </p:cNvSpPr>
          <p:nvPr/>
        </p:nvSpPr>
        <p:spPr>
          <a:xfrm>
            <a:off x="7376731" y="6492240"/>
            <a:ext cx="5334000" cy="12435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dirty="0" err="1"/>
              <a:t>Ejemplo</a:t>
            </a:r>
            <a:r>
              <a:rPr lang="en-US" sz="1600" dirty="0"/>
              <a:t>: Mockup Circuito </a:t>
            </a:r>
            <a:r>
              <a:rPr lang="en-US" sz="1600" dirty="0" err="1"/>
              <a:t>Previo</a:t>
            </a:r>
            <a:r>
              <a:rPr lang="en-US" sz="1600" dirty="0"/>
              <a:t> Pony Malta</a:t>
            </a:r>
            <a:endParaRPr lang="en-US" sz="16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0675914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93D43F-5340-AF4B-7833-60EAA7A93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A51B3-5BDF-B88D-3F43-8598E3D42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546529"/>
            <a:ext cx="5334000" cy="1325563"/>
          </a:xfrm>
        </p:spPr>
        <p:txBody>
          <a:bodyPr>
            <a:noAutofit/>
          </a:bodyPr>
          <a:lstStyle/>
          <a:p>
            <a:r>
              <a:rPr lang="en-US" sz="3200" dirty="0"/>
              <a:t>Rich Media: Display &amp; Video </a:t>
            </a:r>
            <a:r>
              <a:rPr lang="en-US" sz="3200" dirty="0" err="1"/>
              <a:t>Integrado</a:t>
            </a:r>
            <a:r>
              <a:rPr lang="en-US" sz="3200" dirty="0"/>
              <a:t> – Post </a:t>
            </a:r>
            <a:r>
              <a:rPr lang="en-US" sz="3200" dirty="0" err="1"/>
              <a:t>Evento</a:t>
            </a:r>
            <a:r>
              <a:rPr lang="en-US" sz="3200" dirty="0"/>
              <a:t> </a:t>
            </a:r>
            <a:r>
              <a:rPr lang="en-US" sz="3200" dirty="0" err="1"/>
              <a:t>continuidad</a:t>
            </a:r>
            <a:r>
              <a:rPr lang="en-US" sz="3200" dirty="0"/>
              <a:t>  </a:t>
            </a:r>
            <a:r>
              <a:rPr lang="en-US" sz="3200" dirty="0" err="1"/>
              <a:t>conexión</a:t>
            </a:r>
            <a:r>
              <a:rPr lang="en-US" sz="3200" dirty="0"/>
              <a:t> </a:t>
            </a:r>
            <a:r>
              <a:rPr lang="en-US" sz="3200" dirty="0" err="1"/>
              <a:t>emocional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A7DA16-52E7-A0DF-C7B4-5CAEEFACDE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6988" y="2670047"/>
            <a:ext cx="5334000" cy="3895345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s-ES" dirty="0"/>
              <a:t>Creatividad Rich Media </a:t>
            </a:r>
            <a:r>
              <a:rPr lang="es-ES" dirty="0" err="1"/>
              <a:t>Display</a:t>
            </a:r>
            <a:r>
              <a:rPr lang="es-ES" dirty="0"/>
              <a:t> &amp; Video de alto impacto,  que revive los momentos más relevantes del evento y los lleva al ecosistema digital, extendiendo la experiencia más allá del espacio físico y manteniendo la conexión emocional con las audiencias posterior a la activación.</a:t>
            </a:r>
          </a:p>
          <a:p>
            <a:pPr marL="0" indent="0">
              <a:buNone/>
            </a:pPr>
            <a:r>
              <a:rPr lang="en-US" dirty="0"/>
              <a:t>GEO: Colombia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sz="1200" dirty="0">
              <a:latin typeface="+mj-lt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CD296EB-D25F-D576-8AFB-05D072A7119F}"/>
              </a:ext>
            </a:extLst>
          </p:cNvPr>
          <p:cNvSpPr txBox="1">
            <a:spLocks/>
          </p:cNvSpPr>
          <p:nvPr/>
        </p:nvSpPr>
        <p:spPr>
          <a:xfrm>
            <a:off x="7376731" y="6492240"/>
            <a:ext cx="5334000" cy="12435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dirty="0" err="1"/>
              <a:t>Ejemplo</a:t>
            </a:r>
            <a:r>
              <a:rPr lang="en-US" sz="1600" dirty="0"/>
              <a:t>: Mockup Circuito </a:t>
            </a:r>
            <a:r>
              <a:rPr lang="en-US" sz="1600" dirty="0" err="1"/>
              <a:t>Previo</a:t>
            </a:r>
            <a:r>
              <a:rPr lang="en-US" sz="1600" dirty="0"/>
              <a:t> Pony Malta</a:t>
            </a:r>
            <a:endParaRPr lang="en-US" sz="1600" dirty="0">
              <a:latin typeface="+mj-l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03CEE72-86E9-8822-F762-C6FC51952D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8892" y="164592"/>
            <a:ext cx="3236120" cy="6327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5433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2B4BF3-2B8C-2075-F530-6E452A088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2FC8E-0498-2880-A886-C9583844E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0760" y="547488"/>
            <a:ext cx="5334000" cy="1325563"/>
          </a:xfrm>
        </p:spPr>
        <p:txBody>
          <a:bodyPr>
            <a:normAutofit/>
          </a:bodyPr>
          <a:lstStyle/>
          <a:p>
            <a:r>
              <a:rPr lang="en-US" dirty="0"/>
              <a:t>Audio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BBE27F8-44A0-85A1-5F1B-FC2767C860D2}"/>
              </a:ext>
            </a:extLst>
          </p:cNvPr>
          <p:cNvSpPr txBox="1">
            <a:spLocks/>
          </p:cNvSpPr>
          <p:nvPr/>
        </p:nvSpPr>
        <p:spPr>
          <a:xfrm>
            <a:off x="853442" y="1940897"/>
            <a:ext cx="5334000" cy="4544569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Extender a </a:t>
            </a:r>
            <a:r>
              <a:rPr lang="en-US" dirty="0" err="1"/>
              <a:t>plataformas</a:t>
            </a:r>
            <a:r>
              <a:rPr lang="en-US" dirty="0"/>
              <a:t> de streaming y audio las </a:t>
            </a:r>
            <a:r>
              <a:rPr lang="en-US" dirty="0" err="1"/>
              <a:t>experiencias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Bavaria </a:t>
            </a:r>
            <a:r>
              <a:rPr lang="en-US" dirty="0" err="1"/>
              <a:t>construye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el </a:t>
            </a:r>
            <a:r>
              <a:rPr lang="en-US" dirty="0" err="1"/>
              <a:t>mundo</a:t>
            </a:r>
            <a:r>
              <a:rPr lang="en-US" dirty="0"/>
              <a:t> offline, </a:t>
            </a:r>
            <a:r>
              <a:rPr lang="en-US" dirty="0" err="1"/>
              <a:t>amplificando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alcance</a:t>
            </a:r>
            <a:r>
              <a:rPr lang="en-US" dirty="0"/>
              <a:t>, </a:t>
            </a:r>
            <a:r>
              <a:rPr lang="en-US" dirty="0" err="1"/>
              <a:t>manteniendo</a:t>
            </a:r>
            <a:r>
              <a:rPr lang="en-US" dirty="0"/>
              <a:t> la </a:t>
            </a:r>
            <a:r>
              <a:rPr lang="en-US" dirty="0" err="1"/>
              <a:t>conexión</a:t>
            </a:r>
            <a:r>
              <a:rPr lang="en-US" dirty="0"/>
              <a:t> con sus audiencias y </a:t>
            </a:r>
            <a:r>
              <a:rPr lang="en-US" dirty="0" err="1"/>
              <a:t>consolidando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experiencia</a:t>
            </a:r>
            <a:r>
              <a:rPr lang="en-US" dirty="0"/>
              <a:t> de </a:t>
            </a:r>
            <a:r>
              <a:rPr lang="en-US" dirty="0" err="1"/>
              <a:t>marca</a:t>
            </a:r>
            <a:r>
              <a:rPr lang="en-US" dirty="0"/>
              <a:t> </a:t>
            </a:r>
            <a:r>
              <a:rPr lang="en-US" dirty="0" err="1"/>
              <a:t>integrada</a:t>
            </a:r>
            <a:r>
              <a:rPr lang="en-US" dirty="0"/>
              <a:t> y </a:t>
            </a:r>
            <a:r>
              <a:rPr lang="en-US" dirty="0" err="1"/>
              <a:t>omnicanal</a:t>
            </a:r>
            <a:r>
              <a:rPr lang="en-US" dirty="0"/>
              <a:t>.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GEO: Colombia.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Audiencia </a:t>
            </a:r>
            <a:r>
              <a:rPr lang="en-US" dirty="0" err="1"/>
              <a:t>Recomendada</a:t>
            </a:r>
            <a:r>
              <a:rPr lang="en-US" dirty="0"/>
              <a:t>: </a:t>
            </a:r>
          </a:p>
          <a:p>
            <a:pPr>
              <a:buFontTx/>
              <a:buChar char="-"/>
            </a:pPr>
            <a:r>
              <a:rPr lang="en-US" dirty="0"/>
              <a:t>Cultura y </a:t>
            </a:r>
            <a:r>
              <a:rPr lang="en-US" dirty="0" err="1"/>
              <a:t>entretenimiento</a:t>
            </a:r>
            <a:endParaRPr lang="en-US" dirty="0"/>
          </a:p>
          <a:p>
            <a:pPr>
              <a:buFontTx/>
              <a:buChar char="-"/>
            </a:pPr>
            <a:r>
              <a:rPr lang="en-US" dirty="0"/>
              <a:t>Deportes y aficionados </a:t>
            </a:r>
          </a:p>
          <a:p>
            <a:pPr>
              <a:buFontTx/>
              <a:buChar char="-"/>
            </a:pPr>
            <a:r>
              <a:rPr lang="en-US" dirty="0"/>
              <a:t>Social &amp; Lifestyle</a:t>
            </a:r>
          </a:p>
          <a:p>
            <a:pPr>
              <a:buFontTx/>
              <a:buChar char="-"/>
            </a:pPr>
            <a:r>
              <a:rPr lang="en-US" dirty="0"/>
              <a:t>Audiencias </a:t>
            </a:r>
            <a:r>
              <a:rPr lang="en-US" dirty="0" err="1"/>
              <a:t>personalizada</a:t>
            </a:r>
            <a:r>
              <a:rPr lang="en-US" dirty="0"/>
              <a:t> a </a:t>
            </a:r>
            <a:r>
              <a:rPr lang="en-US" dirty="0" err="1"/>
              <a:t>cada</a:t>
            </a:r>
            <a:r>
              <a:rPr lang="en-US" dirty="0"/>
              <a:t> </a:t>
            </a:r>
            <a:r>
              <a:rPr lang="en-US" dirty="0" err="1"/>
              <a:t>marca</a:t>
            </a:r>
            <a:endParaRPr lang="en-US" dirty="0"/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pPr>
              <a:buFontTx/>
              <a:buChar char="-"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sz="1200" dirty="0">
              <a:latin typeface="+mj-lt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200" dirty="0">
              <a:latin typeface="+mj-lt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E2E5FC1-8899-E9BD-57DC-2CAE31CBCA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2" y="107220"/>
            <a:ext cx="2929755" cy="619055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DF2D23A-1519-FDEF-BE6C-68A154A98F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3826" y="294910"/>
            <a:ext cx="2752949" cy="6002866"/>
          </a:xfrm>
          <a:prstGeom prst="rect">
            <a:avLst/>
          </a:prstGeom>
        </p:spPr>
      </p:pic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7755C8E8-B7E1-7A72-0807-9F433439B8A8}"/>
              </a:ext>
            </a:extLst>
          </p:cNvPr>
          <p:cNvSpPr txBox="1">
            <a:spLocks/>
          </p:cNvSpPr>
          <p:nvPr/>
        </p:nvSpPr>
        <p:spPr>
          <a:xfrm>
            <a:off x="6680200" y="6493932"/>
            <a:ext cx="1473200" cy="12435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dirty="0"/>
              <a:t>Pre </a:t>
            </a:r>
            <a:r>
              <a:rPr lang="en-US" sz="1600" dirty="0" err="1"/>
              <a:t>Activación</a:t>
            </a:r>
            <a:endParaRPr lang="en-US" sz="1600" dirty="0">
              <a:latin typeface="+mj-lt"/>
            </a:endParaRP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067B8BB5-51C8-6B5D-52D9-A5B30F8A4FA0}"/>
              </a:ext>
            </a:extLst>
          </p:cNvPr>
          <p:cNvSpPr txBox="1">
            <a:spLocks/>
          </p:cNvSpPr>
          <p:nvPr/>
        </p:nvSpPr>
        <p:spPr>
          <a:xfrm>
            <a:off x="10023700" y="6485466"/>
            <a:ext cx="1838100" cy="12435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dirty="0"/>
              <a:t>Post </a:t>
            </a:r>
            <a:r>
              <a:rPr lang="en-US" sz="1600" dirty="0" err="1"/>
              <a:t>Activación</a:t>
            </a:r>
            <a:endParaRPr lang="en-US" sz="16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822054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02BA51-673B-A97E-D067-22EAECEE4B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C6630-5727-5D17-FE95-DC37EFA94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546529"/>
            <a:ext cx="5334000" cy="1325563"/>
          </a:xfrm>
        </p:spPr>
        <p:txBody>
          <a:bodyPr>
            <a:normAutofit/>
          </a:bodyPr>
          <a:lstStyle/>
          <a:p>
            <a:r>
              <a:rPr lang="en-US" dirty="0"/>
              <a:t>DOOH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F8BC2D-B78D-0B40-2FF2-6AE4C0D336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0" y="1872092"/>
            <a:ext cx="5334000" cy="4544569"/>
          </a:xfrm>
        </p:spPr>
        <p:txBody>
          <a:bodyPr>
            <a:normAutofit/>
          </a:bodyPr>
          <a:lstStyle/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pPr>
              <a:buFontTx/>
              <a:buChar char="-"/>
            </a:pPr>
            <a:endParaRPr lang="en-US" dirty="0"/>
          </a:p>
          <a:p>
            <a:pPr marL="0" indent="0">
              <a:buNone/>
            </a:pPr>
            <a:endParaRPr lang="en-US" sz="1200" dirty="0">
              <a:latin typeface="+mj-lt"/>
            </a:endParaRPr>
          </a:p>
          <a:p>
            <a:pPr marL="0" indent="0">
              <a:buNone/>
            </a:pPr>
            <a:r>
              <a:rPr lang="en-US" sz="2400" dirty="0" err="1">
                <a:latin typeface="+mj-lt"/>
              </a:rPr>
              <a:t>Misma</a:t>
            </a:r>
            <a:r>
              <a:rPr lang="en-US" sz="2400" dirty="0">
                <a:latin typeface="+mj-lt"/>
              </a:rPr>
              <a:t> imagen </a:t>
            </a:r>
            <a:r>
              <a:rPr lang="en-US" sz="2400" dirty="0" err="1">
                <a:latin typeface="+mj-lt"/>
              </a:rPr>
              <a:t>que</a:t>
            </a:r>
            <a:r>
              <a:rPr lang="en-US" sz="2400" dirty="0">
                <a:latin typeface="+mj-lt"/>
              </a:rPr>
              <a:t> Stake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0EEF9D7-6565-DA83-35DF-D28B1BD12945}"/>
              </a:ext>
            </a:extLst>
          </p:cNvPr>
          <p:cNvSpPr txBox="1">
            <a:spLocks/>
          </p:cNvSpPr>
          <p:nvPr/>
        </p:nvSpPr>
        <p:spPr>
          <a:xfrm>
            <a:off x="1235964" y="2237231"/>
            <a:ext cx="5334000" cy="454456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 err="1"/>
              <a:t>Amplificamos</a:t>
            </a:r>
            <a:r>
              <a:rPr lang="en-US" dirty="0"/>
              <a:t> la </a:t>
            </a:r>
            <a:r>
              <a:rPr lang="en-US" dirty="0" err="1"/>
              <a:t>relevancia</a:t>
            </a:r>
            <a:r>
              <a:rPr lang="en-US" dirty="0"/>
              <a:t> cultural de Bavaria a </a:t>
            </a:r>
            <a:r>
              <a:rPr lang="en-US" dirty="0" err="1"/>
              <a:t>través</a:t>
            </a:r>
            <a:r>
              <a:rPr lang="en-US" dirty="0"/>
              <a:t> de </a:t>
            </a:r>
            <a:r>
              <a:rPr lang="en-US" dirty="0" err="1"/>
              <a:t>formatos</a:t>
            </a:r>
            <a:r>
              <a:rPr lang="en-US" dirty="0"/>
              <a:t> DOOH de alto </a:t>
            </a:r>
            <a:r>
              <a:rPr lang="en-US" dirty="0" err="1"/>
              <a:t>impacto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aeropuertos</a:t>
            </a:r>
            <a:r>
              <a:rPr lang="en-US" dirty="0"/>
              <a:t>, </a:t>
            </a:r>
            <a:r>
              <a:rPr lang="en-US" dirty="0" err="1"/>
              <a:t>estadios</a:t>
            </a:r>
            <a:r>
              <a:rPr lang="en-US" dirty="0"/>
              <a:t>, </a:t>
            </a:r>
            <a:r>
              <a:rPr lang="en-US" dirty="0" err="1"/>
              <a:t>centros</a:t>
            </a:r>
            <a:r>
              <a:rPr lang="en-US" dirty="0"/>
              <a:t> </a:t>
            </a:r>
            <a:r>
              <a:rPr lang="en-US" dirty="0" err="1"/>
              <a:t>comerciales</a:t>
            </a:r>
            <a:r>
              <a:rPr lang="en-US" dirty="0"/>
              <a:t>, </a:t>
            </a:r>
            <a:r>
              <a:rPr lang="en-US" dirty="0" err="1"/>
              <a:t>vallas</a:t>
            </a:r>
            <a:r>
              <a:rPr lang="en-US" dirty="0"/>
              <a:t> </a:t>
            </a:r>
            <a:r>
              <a:rPr lang="en-US" dirty="0" err="1"/>
              <a:t>digitales</a:t>
            </a:r>
            <a:r>
              <a:rPr lang="en-US" dirty="0"/>
              <a:t> y </a:t>
            </a:r>
            <a:r>
              <a:rPr lang="en-US" dirty="0" err="1"/>
              <a:t>otros</a:t>
            </a:r>
            <a:r>
              <a:rPr lang="en-US" dirty="0"/>
              <a:t> </a:t>
            </a:r>
            <a:r>
              <a:rPr lang="en-US" dirty="0" err="1"/>
              <a:t>espacios</a:t>
            </a:r>
            <a:r>
              <a:rPr lang="en-US" dirty="0"/>
              <a:t> de </a:t>
            </a:r>
            <a:r>
              <a:rPr lang="en-US" dirty="0" err="1"/>
              <a:t>alta</a:t>
            </a:r>
            <a:r>
              <a:rPr lang="en-US" dirty="0"/>
              <a:t> </a:t>
            </a:r>
            <a:r>
              <a:rPr lang="en-US" dirty="0" err="1"/>
              <a:t>afluencia</a:t>
            </a:r>
            <a:r>
              <a:rPr lang="en-US" dirty="0"/>
              <a:t>, </a:t>
            </a:r>
            <a:r>
              <a:rPr lang="en-US" dirty="0" err="1"/>
              <a:t>llevando</a:t>
            </a:r>
            <a:r>
              <a:rPr lang="en-US" dirty="0"/>
              <a:t> sus </a:t>
            </a:r>
            <a:r>
              <a:rPr lang="en-US" dirty="0" err="1"/>
              <a:t>experiencias</a:t>
            </a:r>
            <a:r>
              <a:rPr lang="en-US" dirty="0"/>
              <a:t> de </a:t>
            </a:r>
            <a:r>
              <a:rPr lang="en-US" dirty="0" err="1"/>
              <a:t>marca</a:t>
            </a:r>
            <a:r>
              <a:rPr lang="en-US" dirty="0"/>
              <a:t> al </a:t>
            </a:r>
            <a:r>
              <a:rPr lang="en-US" dirty="0" err="1"/>
              <a:t>entorno</a:t>
            </a:r>
            <a:r>
              <a:rPr lang="en-US" dirty="0"/>
              <a:t> </a:t>
            </a:r>
            <a:r>
              <a:rPr lang="en-US" dirty="0" err="1"/>
              <a:t>urbano</a:t>
            </a:r>
            <a:r>
              <a:rPr lang="en-US" dirty="0"/>
              <a:t> y </a:t>
            </a:r>
            <a:r>
              <a:rPr lang="en-US" dirty="0" err="1"/>
              <a:t>conectando</a:t>
            </a:r>
            <a:r>
              <a:rPr lang="en-US" dirty="0"/>
              <a:t> con sus audiencias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momentos</a:t>
            </a:r>
            <a:r>
              <a:rPr lang="en-US" dirty="0"/>
              <a:t> y </a:t>
            </a:r>
            <a:r>
              <a:rPr lang="en-US" dirty="0" err="1"/>
              <a:t>ubicaciones</a:t>
            </a:r>
            <a:r>
              <a:rPr lang="en-US" dirty="0"/>
              <a:t> </a:t>
            </a:r>
            <a:r>
              <a:rPr lang="en-US" dirty="0" err="1"/>
              <a:t>estratégicas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GEO: Colombia. </a:t>
            </a:r>
          </a:p>
          <a:p>
            <a:pPr>
              <a:buFontTx/>
              <a:buChar char="-"/>
            </a:pPr>
            <a:r>
              <a:rPr lang="en-US" dirty="0"/>
              <a:t>Mismas </a:t>
            </a:r>
            <a:r>
              <a:rPr lang="en-US" dirty="0" err="1"/>
              <a:t>locaciones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Stake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200" dirty="0">
              <a:latin typeface="+mj-lt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0294618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ED5AAF-7CEE-661C-51D3-FC687C7FEE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Dispositivas</a:t>
            </a:r>
            <a:r>
              <a:rPr lang="en-US" dirty="0"/>
              <a:t> </a:t>
            </a:r>
            <a:r>
              <a:rPr lang="en-US" dirty="0" err="1"/>
              <a:t>Siguientes</a:t>
            </a:r>
            <a:r>
              <a:rPr lang="en-US" dirty="0"/>
              <a:t>: </a:t>
            </a:r>
          </a:p>
          <a:p>
            <a:r>
              <a:rPr lang="en-US" dirty="0"/>
              <a:t>Tus </a:t>
            </a:r>
            <a:r>
              <a:rPr lang="en-US" dirty="0" err="1"/>
              <a:t>resultados</a:t>
            </a:r>
            <a:endParaRPr lang="en-US" dirty="0"/>
          </a:p>
          <a:p>
            <a:r>
              <a:rPr lang="en-US" dirty="0"/>
              <a:t>Un </a:t>
            </a:r>
            <a:r>
              <a:rPr lang="en-US" dirty="0" err="1"/>
              <a:t>Estudio</a:t>
            </a:r>
            <a:r>
              <a:rPr lang="en-US" dirty="0"/>
              <a:t> de Mercado </a:t>
            </a:r>
            <a:r>
              <a:rPr lang="en-US" dirty="0" err="1"/>
              <a:t>Completo</a:t>
            </a:r>
            <a:r>
              <a:rPr lang="en-US" dirty="0"/>
              <a:t> para Bavaria</a:t>
            </a:r>
          </a:p>
        </p:txBody>
      </p:sp>
    </p:spTree>
    <p:extLst>
      <p:ext uri="{BB962C8B-B14F-4D97-AF65-F5344CB8AC3E}">
        <p14:creationId xmlns:p14="http://schemas.microsoft.com/office/powerpoint/2010/main" val="3462065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D02546-CDA1-D517-BA75-8E05CBF87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la </a:t>
            </a:r>
            <a:r>
              <a:rPr lang="en-US" dirty="0" err="1"/>
              <a:t>medida</a:t>
            </a:r>
            <a:r>
              <a:rPr lang="en-US" dirty="0"/>
              <a:t> de Bavaria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746E29-32CD-95F1-6CA3-2DC0AF907C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824442"/>
          </a:xfrm>
        </p:spPr>
        <p:txBody>
          <a:bodyPr/>
          <a:lstStyle/>
          <a:p>
            <a:pPr marL="0" indent="0">
              <a:lnSpc>
                <a:spcPct val="80000"/>
              </a:lnSpc>
              <a:buNone/>
            </a:pPr>
            <a:r>
              <a:rPr lang="es-ES" sz="1500" dirty="0"/>
              <a:t>Nuestra estrategia como </a:t>
            </a:r>
            <a:r>
              <a:rPr lang="es-ES" sz="1500" dirty="0" err="1"/>
              <a:t>partners</a:t>
            </a:r>
            <a:r>
              <a:rPr lang="es-ES" sz="1500" dirty="0"/>
              <a:t> consultores en posicionamiento, parte de estar alineados con el calendario de eventos y activaciones de cada marca, con el objetivo anticiparnos y planificar de manera conjunta cada experiencia de alto valor, desarrollando una comunicación digital que dé continuidad a los eventos antes, durante y después de cada activación.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0864772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691</Words>
  <Application>Microsoft Office PowerPoint</Application>
  <PresentationFormat>Widescreen</PresentationFormat>
  <Paragraphs>56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Bavaria</vt:lpstr>
      <vt:lpstr>The Loop Approach</vt:lpstr>
      <vt:lpstr>Bavaria: Una marca que trasciende su categoría</vt:lpstr>
      <vt:lpstr>Cuatro Canales: Una experiencia Bavaria Conectada</vt:lpstr>
      <vt:lpstr>Dynamic Ads: Cuenta Regresiva  Expectativa Antes del Evento</vt:lpstr>
      <vt:lpstr>Rich Media: Display &amp; Video Integrado – Post Evento continuidad  conexión emocional</vt:lpstr>
      <vt:lpstr>Audio</vt:lpstr>
      <vt:lpstr>DOOH</vt:lpstr>
      <vt:lpstr>PowerPoint Presentation</vt:lpstr>
      <vt:lpstr>A la medida de Bavaria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Laura Trujillo</dc:creator>
  <cp:lastModifiedBy>Juanita Grajales</cp:lastModifiedBy>
  <cp:revision>2</cp:revision>
  <dcterms:created xsi:type="dcterms:W3CDTF">2026-10-06T20:46:22Z</dcterms:created>
  <dcterms:modified xsi:type="dcterms:W3CDTF">2026-10-06T22:11:21Z</dcterms:modified>
</cp:coreProperties>
</file>